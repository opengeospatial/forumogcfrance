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6"/>
  </p:notesMasterIdLst>
  <p:handoutMasterIdLst>
    <p:handoutMasterId r:id="rId17"/>
  </p:handoutMasterIdLst>
  <p:sldIdLst>
    <p:sldId id="348" r:id="rId5"/>
    <p:sldId id="359" r:id="rId6"/>
    <p:sldId id="360" r:id="rId7"/>
    <p:sldId id="361" r:id="rId8"/>
    <p:sldId id="362" r:id="rId9"/>
    <p:sldId id="366" r:id="rId10"/>
    <p:sldId id="367" r:id="rId11"/>
    <p:sldId id="363" r:id="rId12"/>
    <p:sldId id="364" r:id="rId13"/>
    <p:sldId id="365" r:id="rId14"/>
    <p:sldId id="337" r:id="rId15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ÉRATEURS" id="{0B896E98-F45E-4768-8620-EDDF394BE181}">
          <p14:sldIdLst>
            <p14:sldId id="348"/>
            <p14:sldId id="359"/>
            <p14:sldId id="360"/>
            <p14:sldId id="361"/>
            <p14:sldId id="362"/>
            <p14:sldId id="366"/>
            <p14:sldId id="367"/>
            <p14:sldId id="363"/>
            <p14:sldId id="364"/>
            <p14:sldId id="365"/>
            <p14:sldId id="337"/>
          </p14:sldIdLst>
        </p14:section>
        <p14:section name="MÉTHODOLOGIE" id="{EB03BDE6-D677-4574-A7BF-9721F91BDEB8}">
          <p14:sldIdLst/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 horzBarState="maximized">
    <p:restoredLeft sz="16863" autoAdjust="0"/>
    <p:restoredTop sz="94660"/>
  </p:normalViewPr>
  <p:slideViewPr>
    <p:cSldViewPr showGuides="1">
      <p:cViewPr>
        <p:scale>
          <a:sx n="71" d="100"/>
          <a:sy n="71" d="100"/>
        </p:scale>
        <p:origin x="-1632" y="-828"/>
      </p:cViewPr>
      <p:guideLst>
        <p:guide orient="horz" pos="1620"/>
        <p:guide orient="horz" pos="191"/>
        <p:guide orient="horz" pos="854"/>
        <p:guide orient="horz" pos="821"/>
        <p:guide orient="horz" pos="3049"/>
        <p:guide orient="horz" pos="3151"/>
        <p:guide pos="2880"/>
        <p:guide pos="476"/>
        <p:guide pos="5193"/>
        <p:guide pos="5465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2376" y="-7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D2F826-4D0F-4736-AA2A-2970FD15E846}" type="datetimeFigureOut">
              <a:rPr lang="fr-FR" smtClean="0"/>
              <a:t>18/01/2024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AAD6E3-884A-41AC-B408-A0006C834C4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61315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D680E798-53FF-4C51-A981-953463752515}" type="datetimeFigureOut">
              <a:rPr lang="fr-FR" smtClean="0"/>
              <a:pPr/>
              <a:t>18/01/2024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 smtClean="0"/>
              <a:t>Cliquez pour modifier les styles du texte du masque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</a:t>
            </a:r>
          </a:p>
          <a:p>
            <a:pPr lvl="3"/>
            <a:r>
              <a:rPr lang="fr-FR" dirty="0" smtClean="0"/>
              <a:t>Quatrième niveau</a:t>
            </a:r>
          </a:p>
          <a:p>
            <a:pPr lvl="4"/>
            <a:r>
              <a:rPr lang="fr-FR" dirty="0" smtClean="0"/>
              <a:t>Cinquième niveau</a:t>
            </a:r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B06CD8F-B7ED-4A05-9FB1-A01CC0EF02C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66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smtClean="0"/>
              <a:t>XX/XX/XXXX</a:t>
            </a:r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496350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26109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945784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Titre</a:t>
            </a:r>
          </a:p>
        </p:txBody>
      </p:sp>
      <p:sp>
        <p:nvSpPr>
          <p:cNvPr id="7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8630" y="4783500"/>
            <a:ext cx="92786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8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4666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81" name="Connecteur droit 80"/>
          <p:cNvCxnSpPr/>
          <p:nvPr userDrawn="1"/>
        </p:nvCxnSpPr>
        <p:spPr bwMode="gray">
          <a:xfrm>
            <a:off x="360000" y="4784400"/>
            <a:ext cx="8676496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Espace réservé du texte 84"/>
          <p:cNvSpPr>
            <a:spLocks noGrp="1"/>
          </p:cNvSpPr>
          <p:nvPr>
            <p:ph type="body" sz="quarter" idx="14" hasCustomPrompt="1"/>
          </p:nvPr>
        </p:nvSpPr>
        <p:spPr>
          <a:xfrm>
            <a:off x="684213" y="3292475"/>
            <a:ext cx="5759450" cy="935038"/>
          </a:xfrm>
        </p:spPr>
        <p:txBody>
          <a:bodyPr/>
          <a:lstStyle>
            <a:lvl2pPr marL="180000" indent="0">
              <a:buNone/>
              <a:defRPr/>
            </a:lvl2pPr>
          </a:lstStyle>
          <a:p>
            <a:pPr lvl="1"/>
            <a:r>
              <a:rPr lang="fr-FR" dirty="0" smtClean="0"/>
              <a:t>Sous-Titre ou Section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5" hasCustomPrompt="1"/>
          </p:nvPr>
        </p:nvSpPr>
        <p:spPr>
          <a:xfrm>
            <a:off x="3816392" y="4227934"/>
            <a:ext cx="1763712" cy="358775"/>
          </a:xfrm>
        </p:spPr>
        <p:txBody>
          <a:bodyPr anchor="ctr"/>
          <a:lstStyle>
            <a:lvl5pPr marL="0" indent="0" algn="ctr">
              <a:buNone/>
              <a:defRPr/>
            </a:lvl5pPr>
          </a:lstStyle>
          <a:p>
            <a:pPr lvl="4"/>
            <a:r>
              <a:rPr lang="fr-FR" dirty="0" smtClean="0"/>
              <a:t>&lt;auteur&gt;</a:t>
            </a:r>
            <a:endParaRPr 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000" y="280334"/>
            <a:ext cx="3219450" cy="15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839045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737999"/>
            <a:ext cx="9144000" cy="4166903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 dirty="0" smtClean="0"/>
              <a:t>Sélectionner l’icône pour insérer une image, </a:t>
            </a:r>
            <a:br>
              <a:rPr lang="fr-FR" dirty="0" smtClean="0"/>
            </a:br>
            <a:r>
              <a:rPr lang="fr-FR" dirty="0" smtClean="0"/>
              <a:t>puis disposer l’image en arrière plan </a:t>
            </a:r>
            <a:br>
              <a:rPr lang="fr-FR" dirty="0" smtClean="0"/>
            </a:br>
            <a:r>
              <a:rPr lang="fr-FR" dirty="0" smtClean="0"/>
              <a:t>(Sélectionner l’image avec le bouton droit de la souris / </a:t>
            </a:r>
            <a:br>
              <a:rPr lang="fr-FR" dirty="0" smtClean="0"/>
            </a:br>
            <a:r>
              <a:rPr lang="fr-FR" dirty="0" smtClean="0"/>
              <a:t>Mettre à l’arrière plan)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Titre 9"/>
          <p:cNvSpPr>
            <a:spLocks noGrp="1"/>
          </p:cNvSpPr>
          <p:nvPr>
            <p:ph type="title" hasCustomPrompt="1"/>
          </p:nvPr>
        </p:nvSpPr>
        <p:spPr>
          <a:xfrm>
            <a:off x="350230" y="2283718"/>
            <a:ext cx="7056784" cy="540000"/>
          </a:xfrm>
        </p:spPr>
        <p:txBody>
          <a:bodyPr anchor="ctr"/>
          <a:lstStyle>
            <a:lvl1pPr>
              <a:defRPr sz="3200">
                <a:latin typeface="+mj-lt"/>
              </a:defRPr>
            </a:lvl1pPr>
          </a:lstStyle>
          <a:p>
            <a:r>
              <a:rPr lang="fr-FR" dirty="0" smtClean="0"/>
              <a:t>Titre de section</a:t>
            </a:r>
            <a:endParaRPr lang="fr-FR" dirty="0"/>
          </a:p>
        </p:txBody>
      </p:sp>
      <p:cxnSp>
        <p:nvCxnSpPr>
          <p:cNvPr id="9" name="Connecteur droit 8"/>
          <p:cNvCxnSpPr/>
          <p:nvPr userDrawn="1"/>
        </p:nvCxnSpPr>
        <p:spPr bwMode="gray">
          <a:xfrm>
            <a:off x="360000" y="4784400"/>
            <a:ext cx="8676496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999865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2123728" y="105260"/>
            <a:ext cx="6660270" cy="432048"/>
          </a:xfrm>
        </p:spPr>
        <p:txBody>
          <a:bodyPr anchor="b"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0392" y="4783500"/>
            <a:ext cx="93610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203848" y="4783500"/>
            <a:ext cx="374441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5212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962721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1_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2123728" y="105260"/>
            <a:ext cx="6660270" cy="432048"/>
          </a:xfrm>
        </p:spPr>
        <p:txBody>
          <a:bodyPr anchor="b"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915566"/>
            <a:ext cx="4716058" cy="3507202"/>
          </a:xfrm>
        </p:spPr>
        <p:txBody>
          <a:bodyPr/>
          <a:lstStyle>
            <a:lvl1pPr marL="268288" indent="-268288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6213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0392" y="4783500"/>
            <a:ext cx="93610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203848" y="4783500"/>
            <a:ext cx="374441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5212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4" name="Espace réservé pour une image  3"/>
          <p:cNvSpPr>
            <a:spLocks noGrp="1"/>
          </p:cNvSpPr>
          <p:nvPr>
            <p:ph type="pic" sz="quarter" idx="14"/>
          </p:nvPr>
        </p:nvSpPr>
        <p:spPr>
          <a:xfrm>
            <a:off x="5148064" y="915988"/>
            <a:ext cx="3816549" cy="3527425"/>
          </a:xfrm>
        </p:spPr>
        <p:txBody>
          <a:bodyPr/>
          <a:lstStyle/>
          <a:p>
            <a:r>
              <a:rPr lang="fr-FR" smtClean="0"/>
              <a:t>Cliquez sur l'icône pour ajouter une image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8172002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2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2123728" y="105260"/>
            <a:ext cx="6660270" cy="432048"/>
          </a:xfrm>
        </p:spPr>
        <p:txBody>
          <a:bodyPr anchor="b"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915566"/>
            <a:ext cx="4212002" cy="3507202"/>
          </a:xfrm>
        </p:spPr>
        <p:txBody>
          <a:bodyPr/>
          <a:lstStyle>
            <a:lvl1pPr marL="268288" indent="-268288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6213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1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16016" y="915566"/>
            <a:ext cx="4212002" cy="3507202"/>
          </a:xfrm>
        </p:spPr>
        <p:txBody>
          <a:bodyPr/>
          <a:lstStyle>
            <a:lvl1pPr marL="268288" indent="-268288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6213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0392" y="4783500"/>
            <a:ext cx="93610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203848" y="4783500"/>
            <a:ext cx="374441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20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5212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79638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_3_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2123728" y="101962"/>
            <a:ext cx="6660270" cy="432048"/>
          </a:xfrm>
        </p:spPr>
        <p:txBody>
          <a:bodyPr anchor="b"/>
          <a:lstStyle>
            <a:lvl1pPr>
              <a:defRPr/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59998" y="915566"/>
            <a:ext cx="2771842" cy="3507202"/>
          </a:xfrm>
        </p:spPr>
        <p:txBody>
          <a:bodyPr/>
          <a:lstStyle>
            <a:lvl1pPr marL="182563" indent="-182563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3038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3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3203848" y="915566"/>
            <a:ext cx="2771842" cy="3507202"/>
          </a:xfrm>
        </p:spPr>
        <p:txBody>
          <a:bodyPr/>
          <a:lstStyle>
            <a:lvl1pPr marL="182563" indent="-182563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3038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4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6084168" y="915566"/>
            <a:ext cx="2771842" cy="3507202"/>
          </a:xfrm>
        </p:spPr>
        <p:txBody>
          <a:bodyPr/>
          <a:lstStyle>
            <a:lvl1pPr marL="182563" indent="-182563">
              <a:spcBef>
                <a:spcPts val="400"/>
              </a:spcBef>
              <a:spcAft>
                <a:spcPts val="400"/>
              </a:spcAft>
              <a:buSzPct val="75000"/>
              <a:buFont typeface="Courier New" panose="02070309020205020404" pitchFamily="49" charset="0"/>
              <a:buChar char="o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355600" indent="-173038">
              <a:spcBef>
                <a:spcPts val="60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/>
            </a:lvl2pPr>
            <a:lvl3pPr marL="431800" indent="-163513">
              <a:buFont typeface="Calibri" panose="020F0502020204030204" pitchFamily="34" charset="0"/>
              <a:buChar char="–"/>
              <a:defRPr/>
            </a:lvl3pPr>
          </a:lstStyle>
          <a:p>
            <a:pPr lvl="0"/>
            <a:r>
              <a:rPr lang="fr-FR" dirty="0" smtClean="0"/>
              <a:t>Titre de la partie</a:t>
            </a:r>
          </a:p>
          <a:p>
            <a:pPr lvl="1"/>
            <a:r>
              <a:rPr lang="fr-FR" dirty="0" smtClean="0"/>
              <a:t>Deuxième niveau</a:t>
            </a:r>
          </a:p>
          <a:p>
            <a:pPr lvl="2"/>
            <a:r>
              <a:rPr lang="fr-FR" dirty="0" smtClean="0"/>
              <a:t>Troisième niveau max</a:t>
            </a:r>
          </a:p>
        </p:txBody>
      </p:sp>
      <p:sp>
        <p:nvSpPr>
          <p:cNvPr id="16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0392" y="4783500"/>
            <a:ext cx="93610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17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203848" y="4783500"/>
            <a:ext cx="374441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18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5212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410304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r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180000" cy="18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 dirty="0" smtClean="0"/>
              <a:t>Titre</a:t>
            </a:r>
            <a:endParaRPr lang="fr-FR" dirty="0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2346046"/>
            <a:ext cx="8424000" cy="945784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3250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500"/>
              </a:spcBef>
              <a:spcAft>
                <a:spcPts val="0"/>
              </a:spcAft>
              <a:buNone/>
              <a:defRPr sz="1850"/>
            </a:lvl2pPr>
          </a:lstStyle>
          <a:p>
            <a:pPr lvl="0"/>
            <a:r>
              <a:rPr lang="fr-FR" dirty="0" smtClean="0"/>
              <a:t>Merci de votre attention</a:t>
            </a:r>
          </a:p>
        </p:txBody>
      </p: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0000" y="180000"/>
            <a:ext cx="1440000" cy="1440000"/>
          </a:xfrm>
          <a:prstGeom prst="rect">
            <a:avLst/>
          </a:prstGeom>
        </p:spPr>
      </p:pic>
      <p:sp>
        <p:nvSpPr>
          <p:cNvPr id="72" name="Espace réservé du texte 2"/>
          <p:cNvSpPr>
            <a:spLocks noGrp="1"/>
          </p:cNvSpPr>
          <p:nvPr>
            <p:ph type="body" sz="quarter" idx="15" hasCustomPrompt="1"/>
          </p:nvPr>
        </p:nvSpPr>
        <p:spPr>
          <a:xfrm>
            <a:off x="3707904" y="3579862"/>
            <a:ext cx="1763712" cy="358775"/>
          </a:xfrm>
        </p:spPr>
        <p:txBody>
          <a:bodyPr anchor="ctr"/>
          <a:lstStyle>
            <a:lvl5pPr marL="0" indent="0" algn="ctr">
              <a:buNone/>
              <a:defRPr/>
            </a:lvl5pPr>
          </a:lstStyle>
          <a:p>
            <a:pPr lvl="4"/>
            <a:r>
              <a:rPr lang="fr-FR" dirty="0" smtClean="0"/>
              <a:t>&lt;auteur&gt;</a:t>
            </a:r>
            <a:endParaRPr lang="fr-FR" dirty="0"/>
          </a:p>
        </p:txBody>
      </p:sp>
      <p:sp>
        <p:nvSpPr>
          <p:cNvPr id="2" name="AutoShape 2" descr="https://eden.ign.fr/wp-content/uploads/cropped-banniere.png"/>
          <p:cNvSpPr>
            <a:spLocks noChangeAspect="1" noChangeArrowheads="1"/>
          </p:cNvSpPr>
          <p:nvPr userDrawn="1"/>
        </p:nvSpPr>
        <p:spPr bwMode="auto">
          <a:xfrm>
            <a:off x="155575" y="-457200"/>
            <a:ext cx="6143625" cy="95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563520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36CF3-E9B5-4258-B628-75719366CB2C}" type="datetimeFigureOut">
              <a:rPr lang="fr-FR" smtClean="0"/>
              <a:t>18/01/2024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11A5DC-61F6-4403-A58D-687B78770B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88574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359999" y="900000"/>
            <a:ext cx="8424000" cy="720000"/>
          </a:xfrm>
        </p:spPr>
        <p:txBody>
          <a:bodyPr/>
          <a:lstStyle/>
          <a:p>
            <a:r>
              <a:rPr lang="fr-FR" noProof="0" dirty="0"/>
              <a:t>Titre</a:t>
            </a:r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XX/XX/XXXX</a:t>
            </a:r>
            <a:endParaRPr lang="fr-FR" cap="all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fr-FR"/>
              <a:t>Conseil national de l’information géographique</a:t>
            </a:r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359998" y="1836000"/>
            <a:ext cx="8424000" cy="2574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 dirty="0"/>
              <a:t>Texte de niveau 1</a:t>
            </a:r>
          </a:p>
          <a:p>
            <a:pPr lvl="1"/>
            <a:r>
              <a:rPr lang="fr-FR" dirty="0"/>
              <a:t>Texte de niveau 2</a:t>
            </a:r>
          </a:p>
          <a:p>
            <a:pPr lvl="2"/>
            <a:r>
              <a:rPr lang="fr-FR" dirty="0"/>
              <a:t>Texte de niveau 3</a:t>
            </a:r>
          </a:p>
          <a:p>
            <a:pPr lvl="3"/>
            <a:r>
              <a:rPr lang="fr-FR" dirty="0"/>
              <a:t>Texte de niveau 4</a:t>
            </a:r>
          </a:p>
          <a:p>
            <a:pPr lvl="4"/>
            <a:r>
              <a:rPr lang="fr-FR" dirty="0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312000" y="180000"/>
            <a:ext cx="5472000" cy="360000"/>
          </a:xfrm>
        </p:spPr>
        <p:txBody>
          <a:bodyPr/>
          <a:lstStyle>
            <a:lvl1pPr marL="81000" indent="-81000" algn="r">
              <a:spcAft>
                <a:spcPts val="0"/>
              </a:spcAft>
              <a:buFont typeface="+mj-lt"/>
              <a:buAutoNum type="arabicPeriod"/>
              <a:defRPr sz="563" b="1"/>
            </a:lvl1pPr>
            <a:lvl2pPr marL="81000" indent="-81000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563"/>
            </a:lvl2pPr>
          </a:lstStyle>
          <a:p>
            <a:pPr lvl="0"/>
            <a:r>
              <a:rPr lang="fr-FR" dirty="0"/>
              <a:t>Titre</a:t>
            </a:r>
          </a:p>
          <a:p>
            <a:pPr lvl="1"/>
            <a:r>
              <a:rPr lang="fr-FR" dirty="0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058346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1979712" y="108000"/>
            <a:ext cx="7056784" cy="54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 dirty="0" smtClean="0"/>
              <a:t>Titre</a:t>
            </a:r>
            <a:endParaRPr lang="fr-FR" noProof="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359998" y="843558"/>
            <a:ext cx="8676497" cy="38164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 dirty="0" smtClean="0"/>
              <a:t>Texte de niveau 1</a:t>
            </a:r>
          </a:p>
          <a:p>
            <a:pPr lvl="1"/>
            <a:r>
              <a:rPr lang="fr-FR" noProof="0" dirty="0" smtClean="0"/>
              <a:t>Texte de niveau 2</a:t>
            </a:r>
          </a:p>
          <a:p>
            <a:pPr lvl="2"/>
            <a:r>
              <a:rPr lang="fr-FR" noProof="0" dirty="0" smtClean="0"/>
              <a:t>Texte de niveau 3</a:t>
            </a:r>
          </a:p>
          <a:p>
            <a:pPr lvl="3"/>
            <a:r>
              <a:rPr lang="fr-FR" noProof="0" dirty="0" smtClean="0"/>
              <a:t>Texte de niveau 4</a:t>
            </a:r>
          </a:p>
          <a:p>
            <a:pPr lvl="4"/>
            <a:r>
              <a:rPr lang="fr-FR" noProof="0" dirty="0" smtClean="0"/>
              <a:t>Texte de niveau 5</a:t>
            </a:r>
            <a:endParaRPr lang="fr-FR" noProof="0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8100392" y="4783500"/>
            <a:ext cx="936104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75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3203848" y="4783500"/>
            <a:ext cx="3744416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750" b="1">
                <a:solidFill>
                  <a:schemeClr val="tx1"/>
                </a:solidFill>
              </a:defRPr>
            </a:lvl1pPr>
          </a:lstStyle>
          <a:p>
            <a:pPr algn="ctr"/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6948264" y="4783500"/>
            <a:ext cx="1152128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75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 dirty="0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360000" y="4784400"/>
            <a:ext cx="8676496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space réservé du pied de page 3"/>
          <p:cNvSpPr txBox="1">
            <a:spLocks/>
          </p:cNvSpPr>
          <p:nvPr/>
        </p:nvSpPr>
        <p:spPr bwMode="gray">
          <a:xfrm>
            <a:off x="360000" y="4783500"/>
            <a:ext cx="2843848" cy="360000"/>
          </a:xfrm>
          <a:prstGeom prst="rect">
            <a:avLst/>
          </a:prstGeom>
        </p:spPr>
        <p:txBody>
          <a:bodyPr lIns="0" tIns="36000" rIns="36000" bIns="36000" anchor="ctr"/>
          <a:lstStyle>
            <a:defPPr>
              <a:defRPr lang="fr-FR"/>
            </a:defPPr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/>
            <a:r>
              <a:rPr lang="fr-FR" sz="7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Conseil</a:t>
            </a:r>
            <a:r>
              <a:rPr lang="fr-FR" sz="75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National de l’Information géolocalisée</a:t>
            </a:r>
            <a:endParaRPr lang="fr-FR" sz="75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95" y="103538"/>
            <a:ext cx="1465709" cy="70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12" r:id="rId2"/>
    <p:sldLayoutId id="2147483814" r:id="rId3"/>
    <p:sldLayoutId id="2147483816" r:id="rId4"/>
    <p:sldLayoutId id="2147483815" r:id="rId5"/>
    <p:sldLayoutId id="2147483813" r:id="rId6"/>
    <p:sldLayoutId id="2147483810" r:id="rId7"/>
    <p:sldLayoutId id="2147483817" r:id="rId8"/>
    <p:sldLayoutId id="2147483818" r:id="rId9"/>
    <p:sldLayoutId id="2147483819" r:id="rId10"/>
  </p:sldLayoutIdLst>
  <p:timing>
    <p:tnLst>
      <p:par>
        <p:cTn id="1" dur="indefinite" restart="never" nodeType="tmRoot"/>
      </p:par>
    </p:tnLst>
  </p:timing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55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52000" indent="-7200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12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28000" indent="-72000" algn="l" defTabSz="914400" rtl="0" eaLnBrk="1" latinLnBrk="0" hangingPunct="1">
        <a:lnSpc>
          <a:spcPct val="100000"/>
        </a:lnSpc>
        <a:spcBef>
          <a:spcPts val="100"/>
        </a:spcBef>
        <a:spcAft>
          <a:spcPts val="100"/>
        </a:spcAft>
        <a:buSzPct val="100000"/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nig.gouv.fr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nig.gouv.fr/spip.php?page=contact" TargetMode="External"/><Relationship Id="rId4" Type="http://schemas.openxmlformats.org/officeDocument/2006/relationships/hyperlink" Target="mailto:pierre.laulier@cnig.gouv.fr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smtClean="0"/>
              <a:t>CNIG</a:t>
            </a:r>
            <a:endParaRPr lang="fr-FR" dirty="0" smtClean="0"/>
          </a:p>
          <a:p>
            <a:endParaRPr lang="fr-FR" dirty="0" smtClean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18" name="Espace réservé du texte 17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algn="ctr"/>
            <a:r>
              <a:rPr lang="fr-FR" b="1" dirty="0">
                <a:latin typeface="Marianne" panose="02000000000000000000" pitchFamily="50" charset="0"/>
                <a:cs typeface="Arial" panose="020B0604020202020204" pitchFamily="34" charset="0"/>
              </a:rPr>
              <a:t>Conseil national de l’information géolocalisée</a:t>
            </a:r>
            <a:endParaRPr lang="fr-FR" b="1" dirty="0">
              <a:latin typeface="Marianne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1" name="Espace réservé de la date 10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</p:spTree>
    <p:extLst>
      <p:ext uri="{BB962C8B-B14F-4D97-AF65-F5344CB8AC3E}">
        <p14:creationId xmlns:p14="http://schemas.microsoft.com/office/powerpoint/2010/main" val="404295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87624" y="195486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Le </a:t>
            </a:r>
            <a:r>
              <a:rPr lang="fr-FR" sz="4000" b="1" dirty="0" smtClean="0">
                <a:latin typeface="Marianne" panose="02000000000000000000" pitchFamily="50" charset="0"/>
                <a:cs typeface="Arial" panose="020B0604020202020204" pitchFamily="34" charset="0"/>
              </a:rPr>
              <a:t>CNIG</a:t>
            </a:r>
            <a:endParaRPr lang="fr-FR" sz="4000" b="1" dirty="0">
              <a:latin typeface="Marianne" panose="02000000000000000000" pitchFamily="50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200291" y="1043418"/>
            <a:ext cx="47165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/>
              <a:t>Instance </a:t>
            </a:r>
            <a:r>
              <a:rPr lang="fr-FR" dirty="0"/>
              <a:t>consultative placée auprès du ministre en charge du développement durable, le CNIG est devenu en 2022 le </a:t>
            </a:r>
            <a:r>
              <a:rPr lang="fr-FR" b="1" dirty="0"/>
              <a:t>Conseil national de l’information géolocalisée</a:t>
            </a:r>
            <a:r>
              <a:rPr lang="fr-FR" dirty="0"/>
              <a:t>, en étendant son champ d’action et confortant son rôle stratégique et de coordination. </a:t>
            </a:r>
          </a:p>
          <a:p>
            <a:endParaRPr lang="fr-FR" dirty="0"/>
          </a:p>
          <a:p>
            <a:r>
              <a:rPr lang="fr-FR" dirty="0"/>
              <a:t> </a:t>
            </a:r>
          </a:p>
          <a:p>
            <a:endParaRPr lang="fr-FR" dirty="0"/>
          </a:p>
          <a:p>
            <a:r>
              <a:rPr lang="fr-FR" dirty="0"/>
              <a:t> </a:t>
            </a:r>
          </a:p>
        </p:txBody>
      </p:sp>
      <p:sp>
        <p:nvSpPr>
          <p:cNvPr id="4" name="Rectangle 3"/>
          <p:cNvSpPr/>
          <p:nvPr/>
        </p:nvSpPr>
        <p:spPr>
          <a:xfrm>
            <a:off x="4916815" y="764000"/>
            <a:ext cx="4068452" cy="23763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/>
              <a:t>Le CNIG</a:t>
            </a:r>
          </a:p>
          <a:p>
            <a:r>
              <a:rPr lang="fr-FR" dirty="0" smtClean="0"/>
              <a:t>Création </a:t>
            </a:r>
            <a:r>
              <a:rPr lang="fr-FR" dirty="0"/>
              <a:t>: 1985</a:t>
            </a:r>
          </a:p>
          <a:p>
            <a:r>
              <a:rPr lang="fr-FR" dirty="0"/>
              <a:t>Nouveau décret : 2022-1204 du 30/08/22</a:t>
            </a:r>
          </a:p>
          <a:p>
            <a:r>
              <a:rPr lang="fr-FR" dirty="0"/>
              <a:t>Membres : 43</a:t>
            </a:r>
          </a:p>
          <a:p>
            <a:r>
              <a:rPr lang="fr-FR" dirty="0"/>
              <a:t>Participants : +500</a:t>
            </a:r>
          </a:p>
          <a:p>
            <a:r>
              <a:rPr lang="fr-FR" dirty="0"/>
              <a:t>Président : Bertrand </a:t>
            </a:r>
            <a:r>
              <a:rPr lang="fr-FR" dirty="0" err="1"/>
              <a:t>Monthubert</a:t>
            </a:r>
            <a:endParaRPr lang="fr-FR" dirty="0"/>
          </a:p>
          <a:p>
            <a:r>
              <a:rPr lang="fr-FR" dirty="0"/>
              <a:t>Vice-président : Thomas Lesueur, CGDD</a:t>
            </a:r>
          </a:p>
        </p:txBody>
      </p:sp>
      <p:sp>
        <p:nvSpPr>
          <p:cNvPr id="5" name="ZoneTexte 4"/>
          <p:cNvSpPr txBox="1"/>
          <p:nvPr/>
        </p:nvSpPr>
        <p:spPr>
          <a:xfrm>
            <a:off x="251520" y="3086990"/>
            <a:ext cx="86409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/>
              <a:t>La </a:t>
            </a:r>
            <a:r>
              <a:rPr lang="fr-FR" dirty="0"/>
              <a:t>particularité du CNIG est de </a:t>
            </a:r>
            <a:r>
              <a:rPr lang="fr-FR" b="1" dirty="0"/>
              <a:t>rassembler en un lieu unique la très grande variété d’acteurs</a:t>
            </a:r>
            <a:r>
              <a:rPr lang="fr-FR" dirty="0"/>
              <a:t> qui composent l’écosystème de la géo-donnée en France : ministères, établissements publics, collectivités territoriales, entreprises privées, associations professionnelles, organisations syndicales, association de citoyens, qui peuvent se rencontrer, décider et coproduire ensemble. </a:t>
            </a:r>
          </a:p>
          <a:p>
            <a:endParaRPr lang="fr-FR" dirty="0"/>
          </a:p>
          <a:p>
            <a:r>
              <a:rPr lang="fr-F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5623272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87624" y="195486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Pourquoi un CNIG ?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245353" y="1144295"/>
            <a:ext cx="45136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fr-FR" dirty="0" smtClean="0"/>
              <a:t>De </a:t>
            </a:r>
            <a:r>
              <a:rPr lang="fr-FR" dirty="0"/>
              <a:t>plus en plus de données géolocalisées :</a:t>
            </a:r>
          </a:p>
          <a:p>
            <a:pPr algn="just"/>
            <a:r>
              <a:rPr lang="fr-FR" dirty="0" smtClean="0"/>
              <a:t>- </a:t>
            </a:r>
            <a:r>
              <a:rPr lang="fr-FR" dirty="0"/>
              <a:t>précises, interopérables et largement partagées </a:t>
            </a:r>
          </a:p>
          <a:p>
            <a:pPr algn="just"/>
            <a:endParaRPr lang="fr-FR" dirty="0"/>
          </a:p>
        </p:txBody>
      </p:sp>
      <p:sp>
        <p:nvSpPr>
          <p:cNvPr id="6" name="Rectangle 5"/>
          <p:cNvSpPr/>
          <p:nvPr/>
        </p:nvSpPr>
        <p:spPr>
          <a:xfrm>
            <a:off x="5004048" y="820224"/>
            <a:ext cx="4006971" cy="15481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400" i="1" dirty="0"/>
              <a:t>« L’information géolocalisée prend une place croissante dans notre société : de nombreux services en dépendent et nous devons nous coordonner pour répondre de manière souveraine aux besoins des citoyens, de notre société, de notre planète »</a:t>
            </a:r>
            <a:r>
              <a:rPr lang="fr-FR" sz="1400" dirty="0"/>
              <a:t> B. </a:t>
            </a:r>
            <a:r>
              <a:rPr lang="fr-FR" sz="1400" dirty="0" err="1"/>
              <a:t>Monthubert</a:t>
            </a:r>
            <a:endParaRPr lang="fr-FR" sz="1400" dirty="0"/>
          </a:p>
        </p:txBody>
      </p:sp>
      <p:sp>
        <p:nvSpPr>
          <p:cNvPr id="5" name="ZoneTexte 4"/>
          <p:cNvSpPr txBox="1"/>
          <p:nvPr/>
        </p:nvSpPr>
        <p:spPr>
          <a:xfrm>
            <a:off x="327047" y="2416386"/>
            <a:ext cx="79208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- indispensables au développement de services utiles à la transition écologique et énergétique, à la prévention des risques, à la sécurité, aux services de secours, à la sauvegarde de la biodiversité, à la santé, etc... </a:t>
            </a:r>
          </a:p>
          <a:p>
            <a:r>
              <a:rPr lang="fr-FR" dirty="0" smtClean="0"/>
              <a:t>- </a:t>
            </a:r>
            <a:r>
              <a:rPr lang="fr-FR" dirty="0"/>
              <a:t>socle pour le développement de la politique publique de la donnée.</a:t>
            </a:r>
          </a:p>
          <a:p>
            <a:pPr lvl="0" algn="just"/>
            <a:r>
              <a:rPr lang="fr-FR" dirty="0" smtClean="0"/>
              <a:t>- </a:t>
            </a:r>
            <a:r>
              <a:rPr lang="fr-FR" dirty="0"/>
              <a:t>produites par de nombreux acteurs qui sont à la fois producteurs et utilisateurs (y compris citoyens).</a:t>
            </a:r>
          </a:p>
          <a:p>
            <a:r>
              <a:rPr lang="fr-FR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2572786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1187624" y="195486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Missions et valeurs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539552" y="1275607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r>
              <a:rPr lang="fr-FR" b="1" dirty="0"/>
              <a:t> </a:t>
            </a:r>
            <a:endParaRPr lang="fr-FR" dirty="0"/>
          </a:p>
        </p:txBody>
      </p:sp>
      <p:sp>
        <p:nvSpPr>
          <p:cNvPr id="4" name="Rectangle 3"/>
          <p:cNvSpPr/>
          <p:nvPr/>
        </p:nvSpPr>
        <p:spPr>
          <a:xfrm>
            <a:off x="5687616" y="903372"/>
            <a:ext cx="3456384" cy="3828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Ouverture et collaboration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: Le CNIG est un lieu d’échanges et de concertation ouvert largement, il n’a de force que dans la réunion des acteurs qui voudront travailler ensemble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Transparence :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compte-rendu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 sessions sont publics et diffusés sur le site du CNIG.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r>
              <a:rPr lang="fr-FR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Expertise 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les meilleurs experts de leur domaine participent aux groupes de travail et commissions du CNIG.</a:t>
            </a:r>
          </a:p>
          <a:p>
            <a:pPr algn="ctr"/>
            <a:endParaRPr lang="fr-FR" dirty="0"/>
          </a:p>
        </p:txBody>
      </p:sp>
      <p:sp>
        <p:nvSpPr>
          <p:cNvPr id="5" name="Rectangle 4"/>
          <p:cNvSpPr/>
          <p:nvPr/>
        </p:nvSpPr>
        <p:spPr>
          <a:xfrm>
            <a:off x="0" y="1005576"/>
            <a:ext cx="5687616" cy="45436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dirty="0"/>
              <a:t>Fournir au gouvernement et au parlement, notamment dans le cadre de l’élaboration des lois, les éléments techniques concernant l’information géolocalisée à l’appui des politiques publiques.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dirty="0" smtClean="0"/>
              <a:t>Organiser </a:t>
            </a:r>
            <a:r>
              <a:rPr lang="fr-FR" dirty="0"/>
              <a:t>la concertation et la coordination entre les producteurs à tous les échelons notamment avec les collectivités.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dirty="0" smtClean="0"/>
              <a:t>Produire </a:t>
            </a:r>
            <a:r>
              <a:rPr lang="fr-FR" dirty="0"/>
              <a:t>des standards, des guides et préconisations pour la production, la diffusion, l’utilisation et le traitement des données géolocalisées.</a:t>
            </a:r>
          </a:p>
          <a:p>
            <a:pPr marL="285750" lvl="0" indent="-285750" algn="just">
              <a:buFont typeface="Arial" panose="020B0604020202020204" pitchFamily="34" charset="0"/>
              <a:buChar char="•"/>
            </a:pPr>
            <a:r>
              <a:rPr lang="fr-FR" dirty="0" smtClean="0"/>
              <a:t>Favoriser </a:t>
            </a:r>
            <a:r>
              <a:rPr lang="fr-FR" dirty="0"/>
              <a:t>les échanges, fédérer l’innovation, animer l’écosystème de l’information géolocalisée.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tabLst>
                <a:tab pos="457200" algn="l"/>
              </a:tabLst>
            </a:pPr>
            <a:endParaRPr lang="fr-F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237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riangle isocèle 115"/>
          <p:cNvSpPr/>
          <p:nvPr/>
        </p:nvSpPr>
        <p:spPr>
          <a:xfrm rot="10163522">
            <a:off x="1058875" y="869859"/>
            <a:ext cx="7412591" cy="4016185"/>
          </a:xfrm>
          <a:prstGeom prst="triangle">
            <a:avLst>
              <a:gd name="adj" fmla="val 51067"/>
            </a:avLst>
          </a:prstGeom>
          <a:noFill/>
          <a:ln w="53975" cap="rnd" cmpd="sng">
            <a:solidFill>
              <a:schemeClr val="accent1">
                <a:shade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1"/>
          </a:p>
        </p:txBody>
      </p:sp>
      <p:sp>
        <p:nvSpPr>
          <p:cNvPr id="32" name="Hexagone 31"/>
          <p:cNvSpPr/>
          <p:nvPr/>
        </p:nvSpPr>
        <p:spPr>
          <a:xfrm>
            <a:off x="5853391" y="1315394"/>
            <a:ext cx="1306647" cy="782736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Pôle coordination avec les territoires</a:t>
            </a:r>
          </a:p>
        </p:txBody>
      </p:sp>
      <p:sp>
        <p:nvSpPr>
          <p:cNvPr id="36" name="Hexagone 35"/>
          <p:cNvSpPr/>
          <p:nvPr/>
        </p:nvSpPr>
        <p:spPr>
          <a:xfrm>
            <a:off x="6070275" y="2619837"/>
            <a:ext cx="1223661" cy="801188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Commission des standards</a:t>
            </a:r>
          </a:p>
        </p:txBody>
      </p:sp>
      <p:sp>
        <p:nvSpPr>
          <p:cNvPr id="47" name="Hexagone 46"/>
          <p:cNvSpPr/>
          <p:nvPr/>
        </p:nvSpPr>
        <p:spPr>
          <a:xfrm>
            <a:off x="4090820" y="2064870"/>
            <a:ext cx="1213333" cy="832062"/>
          </a:xfrm>
          <a:prstGeom prst="hexag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350" b="1"/>
          </a:p>
        </p:txBody>
      </p:sp>
      <p:sp>
        <p:nvSpPr>
          <p:cNvPr id="48" name="ZoneTexte 47"/>
          <p:cNvSpPr txBox="1"/>
          <p:nvPr/>
        </p:nvSpPr>
        <p:spPr>
          <a:xfrm>
            <a:off x="4320827" y="2273823"/>
            <a:ext cx="902507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/>
              <a:t>Conseil </a:t>
            </a:r>
          </a:p>
          <a:p>
            <a:r>
              <a:rPr lang="fr-FR" sz="1500" b="1" dirty="0"/>
              <a:t>Plénier</a:t>
            </a:r>
          </a:p>
          <a:p>
            <a:endParaRPr lang="fr-FR" sz="1500" b="1" dirty="0"/>
          </a:p>
        </p:txBody>
      </p:sp>
      <p:sp>
        <p:nvSpPr>
          <p:cNvPr id="39" name="Hexagone 38"/>
          <p:cNvSpPr/>
          <p:nvPr/>
        </p:nvSpPr>
        <p:spPr>
          <a:xfrm>
            <a:off x="2186745" y="1491536"/>
            <a:ext cx="1280124" cy="807385"/>
          </a:xfrm>
          <a:prstGeom prst="hexagon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Pôle innovation et Prospective</a:t>
            </a:r>
          </a:p>
          <a:p>
            <a:pPr algn="ctr"/>
            <a:endParaRPr lang="fr-FR" sz="900" b="1" dirty="0">
              <a:solidFill>
                <a:schemeClr val="tx1"/>
              </a:solidFill>
            </a:endParaRPr>
          </a:p>
          <a:p>
            <a:pPr algn="ctr"/>
            <a:r>
              <a:rPr lang="fr-FR" sz="900" b="1" dirty="0">
                <a:solidFill>
                  <a:schemeClr val="tx1"/>
                </a:solidFill>
              </a:rPr>
              <a:t>(Comité d’orientation)</a:t>
            </a:r>
          </a:p>
        </p:txBody>
      </p:sp>
      <p:sp>
        <p:nvSpPr>
          <p:cNvPr id="89" name="ZoneTexte 88"/>
          <p:cNvSpPr txBox="1"/>
          <p:nvPr/>
        </p:nvSpPr>
        <p:spPr>
          <a:xfrm>
            <a:off x="-18996" y="720532"/>
            <a:ext cx="1476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prospective</a:t>
            </a:r>
          </a:p>
        </p:txBody>
      </p:sp>
      <p:sp>
        <p:nvSpPr>
          <p:cNvPr id="2" name="ZoneTexte 1"/>
          <p:cNvSpPr txBox="1"/>
          <p:nvPr/>
        </p:nvSpPr>
        <p:spPr>
          <a:xfrm rot="10800000" flipH="1" flipV="1">
            <a:off x="6692112" y="3326870"/>
            <a:ext cx="593627" cy="4385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50" b="1" dirty="0"/>
              <a:t>Christine </a:t>
            </a:r>
          </a:p>
          <a:p>
            <a:r>
              <a:rPr lang="fr-FR" sz="750" b="1" dirty="0"/>
              <a:t> </a:t>
            </a:r>
            <a:r>
              <a:rPr lang="fr-FR" sz="750" b="1" dirty="0" err="1"/>
              <a:t>Archias</a:t>
            </a:r>
            <a:endParaRPr lang="fr-FR" sz="750" b="1" dirty="0"/>
          </a:p>
        </p:txBody>
      </p:sp>
      <p:sp>
        <p:nvSpPr>
          <p:cNvPr id="62" name="ZoneTexte 61"/>
          <p:cNvSpPr txBox="1"/>
          <p:nvPr/>
        </p:nvSpPr>
        <p:spPr>
          <a:xfrm>
            <a:off x="6103623" y="2122176"/>
            <a:ext cx="68320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Jean-Marie</a:t>
            </a:r>
          </a:p>
          <a:p>
            <a:r>
              <a:rPr lang="fr-FR" sz="750" b="1" dirty="0"/>
              <a:t>    </a:t>
            </a:r>
            <a:r>
              <a:rPr lang="fr-FR" sz="750" b="1" dirty="0" err="1"/>
              <a:t>Seïté</a:t>
            </a:r>
            <a:r>
              <a:rPr lang="fr-FR" sz="750" b="1" dirty="0"/>
              <a:t> </a:t>
            </a:r>
          </a:p>
        </p:txBody>
      </p:sp>
      <p:sp>
        <p:nvSpPr>
          <p:cNvPr id="64" name="ZoneTexte 63"/>
          <p:cNvSpPr txBox="1"/>
          <p:nvPr/>
        </p:nvSpPr>
        <p:spPr>
          <a:xfrm>
            <a:off x="2578248" y="2305427"/>
            <a:ext cx="53572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 Annie </a:t>
            </a:r>
          </a:p>
          <a:p>
            <a:r>
              <a:rPr lang="fr-FR" sz="750" b="1" dirty="0"/>
              <a:t>Blandin</a:t>
            </a:r>
          </a:p>
        </p:txBody>
      </p:sp>
      <p:sp>
        <p:nvSpPr>
          <p:cNvPr id="65" name="ZoneTexte 64"/>
          <p:cNvSpPr txBox="1"/>
          <p:nvPr/>
        </p:nvSpPr>
        <p:spPr>
          <a:xfrm>
            <a:off x="2257110" y="3472425"/>
            <a:ext cx="511679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Pierre </a:t>
            </a:r>
          </a:p>
          <a:p>
            <a:r>
              <a:rPr lang="fr-FR" sz="750" b="1" dirty="0" err="1"/>
              <a:t>Jaillard</a:t>
            </a:r>
            <a:endParaRPr lang="fr-FR" sz="750" b="1" dirty="0"/>
          </a:p>
        </p:txBody>
      </p:sp>
      <p:sp>
        <p:nvSpPr>
          <p:cNvPr id="66" name="ZoneTexte 65"/>
          <p:cNvSpPr txBox="1"/>
          <p:nvPr/>
        </p:nvSpPr>
        <p:spPr>
          <a:xfrm>
            <a:off x="3358025" y="4458273"/>
            <a:ext cx="4844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Pierre </a:t>
            </a:r>
          </a:p>
          <a:p>
            <a:r>
              <a:rPr lang="fr-FR" sz="750" b="1" dirty="0" err="1"/>
              <a:t>Briole</a:t>
            </a:r>
            <a:endParaRPr lang="fr-FR" sz="750" b="1" dirty="0"/>
          </a:p>
        </p:txBody>
      </p:sp>
      <p:sp>
        <p:nvSpPr>
          <p:cNvPr id="60" name="ZoneTexte 59"/>
          <p:cNvSpPr txBox="1"/>
          <p:nvPr/>
        </p:nvSpPr>
        <p:spPr>
          <a:xfrm>
            <a:off x="3393050" y="1005231"/>
            <a:ext cx="59984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Edmond </a:t>
            </a:r>
          </a:p>
          <a:p>
            <a:r>
              <a:rPr lang="fr-FR" sz="750" b="1" dirty="0" err="1"/>
              <a:t>Baranes</a:t>
            </a:r>
            <a:endParaRPr lang="fr-FR" sz="750" b="1" dirty="0"/>
          </a:p>
        </p:txBody>
      </p:sp>
      <p:sp>
        <p:nvSpPr>
          <p:cNvPr id="67" name="ZoneTexte 66"/>
          <p:cNvSpPr txBox="1"/>
          <p:nvPr/>
        </p:nvSpPr>
        <p:spPr>
          <a:xfrm>
            <a:off x="5724796" y="4340012"/>
            <a:ext cx="862737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Marie </a:t>
            </a:r>
            <a:r>
              <a:rPr lang="fr-FR" sz="750" b="1" dirty="0" err="1"/>
              <a:t>Lambois</a:t>
            </a:r>
            <a:endParaRPr lang="fr-FR" sz="750" b="1" dirty="0"/>
          </a:p>
        </p:txBody>
      </p:sp>
      <p:sp>
        <p:nvSpPr>
          <p:cNvPr id="69" name="ZoneTexte 68"/>
          <p:cNvSpPr txBox="1"/>
          <p:nvPr/>
        </p:nvSpPr>
        <p:spPr>
          <a:xfrm>
            <a:off x="7873731" y="443202"/>
            <a:ext cx="1476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coordination</a:t>
            </a:r>
          </a:p>
        </p:txBody>
      </p:sp>
      <p:sp>
        <p:nvSpPr>
          <p:cNvPr id="70" name="ZoneTexte 69"/>
          <p:cNvSpPr txBox="1"/>
          <p:nvPr/>
        </p:nvSpPr>
        <p:spPr>
          <a:xfrm>
            <a:off x="5304153" y="4742140"/>
            <a:ext cx="14764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bg1">
                    <a:lumMod val="50000"/>
                  </a:schemeClr>
                </a:solidFill>
              </a:rPr>
              <a:t>expertise</a:t>
            </a:r>
          </a:p>
        </p:txBody>
      </p:sp>
      <p:sp>
        <p:nvSpPr>
          <p:cNvPr id="85" name="Hexagone 84"/>
          <p:cNvSpPr/>
          <p:nvPr/>
        </p:nvSpPr>
        <p:spPr>
          <a:xfrm>
            <a:off x="2285658" y="617784"/>
            <a:ext cx="1190329" cy="703581"/>
          </a:xfrm>
          <a:prstGeom prst="hexag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Commission Modèles économiques</a:t>
            </a:r>
          </a:p>
        </p:txBody>
      </p:sp>
      <p:sp>
        <p:nvSpPr>
          <p:cNvPr id="87" name="Hexagone 86"/>
          <p:cNvSpPr/>
          <p:nvPr/>
        </p:nvSpPr>
        <p:spPr>
          <a:xfrm>
            <a:off x="1006530" y="819459"/>
            <a:ext cx="1298498" cy="816133"/>
          </a:xfrm>
          <a:prstGeom prst="hexag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Commission Europe et international</a:t>
            </a:r>
          </a:p>
        </p:txBody>
      </p:sp>
      <p:sp>
        <p:nvSpPr>
          <p:cNvPr id="90" name="Hexagone 89"/>
          <p:cNvSpPr/>
          <p:nvPr/>
        </p:nvSpPr>
        <p:spPr>
          <a:xfrm>
            <a:off x="927027" y="1775081"/>
            <a:ext cx="1259719" cy="803870"/>
          </a:xfrm>
          <a:prstGeom prst="hexagon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Commission Besoins et Usages</a:t>
            </a:r>
          </a:p>
        </p:txBody>
      </p:sp>
      <p:sp>
        <p:nvSpPr>
          <p:cNvPr id="107" name="Hexagone 106"/>
          <p:cNvSpPr/>
          <p:nvPr/>
        </p:nvSpPr>
        <p:spPr>
          <a:xfrm>
            <a:off x="5131867" y="3606142"/>
            <a:ext cx="1341067" cy="747807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Commission Règles et Qualité</a:t>
            </a:r>
          </a:p>
        </p:txBody>
      </p:sp>
      <p:sp>
        <p:nvSpPr>
          <p:cNvPr id="108" name="Hexagone 107"/>
          <p:cNvSpPr/>
          <p:nvPr/>
        </p:nvSpPr>
        <p:spPr>
          <a:xfrm>
            <a:off x="3165640" y="3734300"/>
            <a:ext cx="1301020" cy="723973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Commission Géo-</a:t>
            </a:r>
            <a:r>
              <a:rPr lang="fr-FR" sz="900" b="1" dirty="0" err="1">
                <a:solidFill>
                  <a:schemeClr val="tx1"/>
                </a:solidFill>
              </a:rPr>
              <a:t>postionnement</a:t>
            </a:r>
            <a:endParaRPr lang="fr-FR" sz="900" b="1" dirty="0">
              <a:solidFill>
                <a:schemeClr val="tx1"/>
              </a:solidFill>
            </a:endParaRPr>
          </a:p>
        </p:txBody>
      </p:sp>
      <p:sp>
        <p:nvSpPr>
          <p:cNvPr id="109" name="Hexagone 108"/>
          <p:cNvSpPr/>
          <p:nvPr/>
        </p:nvSpPr>
        <p:spPr>
          <a:xfrm>
            <a:off x="2020186" y="2734853"/>
            <a:ext cx="1272360" cy="718071"/>
          </a:xfrm>
          <a:prstGeom prst="hexagon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25" b="1" dirty="0">
                <a:solidFill>
                  <a:schemeClr val="tx1"/>
                </a:solidFill>
              </a:rPr>
              <a:t>Commission nationale de toponymie</a:t>
            </a:r>
          </a:p>
        </p:txBody>
      </p:sp>
      <p:sp>
        <p:nvSpPr>
          <p:cNvPr id="110" name="ZoneTexte 109"/>
          <p:cNvSpPr txBox="1"/>
          <p:nvPr/>
        </p:nvSpPr>
        <p:spPr>
          <a:xfrm>
            <a:off x="1104273" y="2597253"/>
            <a:ext cx="546945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Florent </a:t>
            </a:r>
          </a:p>
          <a:p>
            <a:r>
              <a:rPr lang="fr-FR" sz="750" b="1" dirty="0" err="1"/>
              <a:t>Cholat</a:t>
            </a:r>
            <a:endParaRPr lang="fr-FR" sz="750" b="1" dirty="0"/>
          </a:p>
        </p:txBody>
      </p:sp>
      <p:sp>
        <p:nvSpPr>
          <p:cNvPr id="112" name="ZoneTexte 111"/>
          <p:cNvSpPr txBox="1"/>
          <p:nvPr/>
        </p:nvSpPr>
        <p:spPr>
          <a:xfrm>
            <a:off x="1460289" y="1619269"/>
            <a:ext cx="849913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750" b="1" dirty="0"/>
              <a:t> Henri Verdier</a:t>
            </a:r>
          </a:p>
        </p:txBody>
      </p:sp>
      <p:sp>
        <p:nvSpPr>
          <p:cNvPr id="4" name="Ellipse 3"/>
          <p:cNvSpPr/>
          <p:nvPr/>
        </p:nvSpPr>
        <p:spPr>
          <a:xfrm>
            <a:off x="5016797" y="785644"/>
            <a:ext cx="1191854" cy="525515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comité de déploiement de la BAN</a:t>
            </a:r>
          </a:p>
        </p:txBody>
      </p:sp>
      <p:sp>
        <p:nvSpPr>
          <p:cNvPr id="42" name="Ellipse 41"/>
          <p:cNvSpPr/>
          <p:nvPr/>
        </p:nvSpPr>
        <p:spPr>
          <a:xfrm>
            <a:off x="6340085" y="754948"/>
            <a:ext cx="1175121" cy="432293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Comité coordination </a:t>
            </a:r>
            <a:r>
              <a:rPr lang="fr-FR" sz="900" b="1" dirty="0" err="1">
                <a:solidFill>
                  <a:schemeClr val="tx1"/>
                </a:solidFill>
              </a:rPr>
              <a:t>OCSol</a:t>
            </a:r>
            <a:endParaRPr lang="fr-FR" sz="900" b="1" dirty="0">
              <a:solidFill>
                <a:schemeClr val="tx1"/>
              </a:solidFill>
            </a:endParaRPr>
          </a:p>
        </p:txBody>
      </p:sp>
      <p:sp>
        <p:nvSpPr>
          <p:cNvPr id="43" name="Ellipse 42"/>
          <p:cNvSpPr/>
          <p:nvPr/>
        </p:nvSpPr>
        <p:spPr>
          <a:xfrm>
            <a:off x="7202366" y="1141239"/>
            <a:ext cx="1020505" cy="494352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Comité PCRS</a:t>
            </a:r>
          </a:p>
        </p:txBody>
      </p:sp>
      <p:sp>
        <p:nvSpPr>
          <p:cNvPr id="50" name="Ellipse 49"/>
          <p:cNvSpPr/>
          <p:nvPr/>
        </p:nvSpPr>
        <p:spPr>
          <a:xfrm>
            <a:off x="7370584" y="1775081"/>
            <a:ext cx="1385807" cy="5738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Correspondants dans les régions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1339532" y="77677"/>
            <a:ext cx="7144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</a:rPr>
              <a:t>Organisation</a:t>
            </a:r>
          </a:p>
        </p:txBody>
      </p:sp>
      <p:sp>
        <p:nvSpPr>
          <p:cNvPr id="68" name="Ellipse 67"/>
          <p:cNvSpPr/>
          <p:nvPr/>
        </p:nvSpPr>
        <p:spPr>
          <a:xfrm>
            <a:off x="7430321" y="1833746"/>
            <a:ext cx="1385807" cy="5738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Correspondants dans les régions</a:t>
            </a:r>
          </a:p>
        </p:txBody>
      </p:sp>
      <p:sp>
        <p:nvSpPr>
          <p:cNvPr id="71" name="Ellipse 70"/>
          <p:cNvSpPr/>
          <p:nvPr/>
        </p:nvSpPr>
        <p:spPr>
          <a:xfrm>
            <a:off x="7515206" y="1895228"/>
            <a:ext cx="1385807" cy="5738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Correspondants dans les régions</a:t>
            </a:r>
          </a:p>
        </p:txBody>
      </p:sp>
      <p:sp>
        <p:nvSpPr>
          <p:cNvPr id="72" name="Ellipse 71"/>
          <p:cNvSpPr/>
          <p:nvPr/>
        </p:nvSpPr>
        <p:spPr>
          <a:xfrm>
            <a:off x="7600091" y="1953653"/>
            <a:ext cx="1385807" cy="5738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Correspondants dans les régions</a:t>
            </a:r>
          </a:p>
        </p:txBody>
      </p:sp>
      <p:sp>
        <p:nvSpPr>
          <p:cNvPr id="73" name="Ellipse 72"/>
          <p:cNvSpPr/>
          <p:nvPr/>
        </p:nvSpPr>
        <p:spPr>
          <a:xfrm>
            <a:off x="7671105" y="2018450"/>
            <a:ext cx="1385807" cy="573804"/>
          </a:xfrm>
          <a:prstGeom prst="ellipse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" b="1" dirty="0">
                <a:solidFill>
                  <a:schemeClr val="tx1"/>
                </a:solidFill>
              </a:rPr>
              <a:t>Correspondants dans les régions</a:t>
            </a:r>
          </a:p>
        </p:txBody>
      </p:sp>
      <p:sp>
        <p:nvSpPr>
          <p:cNvPr id="74" name="ZoneTexte 73"/>
          <p:cNvSpPr txBox="1"/>
          <p:nvPr/>
        </p:nvSpPr>
        <p:spPr>
          <a:xfrm>
            <a:off x="4302098" y="2902898"/>
            <a:ext cx="79763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750" b="1" dirty="0"/>
              <a:t>Bertrand </a:t>
            </a:r>
            <a:r>
              <a:rPr lang="fr-FR" sz="750" b="1" dirty="0" err="1"/>
              <a:t>Monthubert</a:t>
            </a:r>
            <a:endParaRPr lang="fr-FR" sz="750" b="1" dirty="0"/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62" y="4480187"/>
            <a:ext cx="1771915" cy="63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064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CNIG et FAIR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>
          <a:xfrm>
            <a:off x="359998" y="915566"/>
            <a:ext cx="6084210" cy="3507202"/>
          </a:xfrm>
        </p:spPr>
        <p:txBody>
          <a:bodyPr/>
          <a:lstStyle/>
          <a:p>
            <a:r>
              <a:rPr lang="fr-FR" dirty="0" smtClean="0"/>
              <a:t>Fabrique des standards</a:t>
            </a:r>
          </a:p>
          <a:p>
            <a:pPr lvl="1"/>
            <a:r>
              <a:rPr lang="fr-FR" dirty="0" smtClean="0"/>
              <a:t>« Standardiser » les standards pour les rendre plus accessibles</a:t>
            </a:r>
          </a:p>
          <a:p>
            <a:pPr lvl="2"/>
            <a:r>
              <a:rPr lang="fr-FR" dirty="0" smtClean="0"/>
              <a:t>Respecter la norme ISO 19131</a:t>
            </a:r>
          </a:p>
          <a:p>
            <a:pPr lvl="2"/>
            <a:r>
              <a:rPr lang="fr-FR" dirty="0" smtClean="0"/>
              <a:t>Envisager d’être mieux lisibles par une machine</a:t>
            </a:r>
          </a:p>
          <a:p>
            <a:pPr lvl="1"/>
            <a:r>
              <a:rPr lang="fr-FR" dirty="0" smtClean="0"/>
              <a:t>Hébergement des modèles de données sur schema.data.gouv.fr</a:t>
            </a:r>
          </a:p>
          <a:p>
            <a:pPr lvl="2"/>
            <a:r>
              <a:rPr lang="fr-FR" dirty="0" smtClean="0"/>
              <a:t>Schémas lisibles par une machine</a:t>
            </a:r>
          </a:p>
          <a:p>
            <a:pPr lvl="2"/>
            <a:endParaRPr lang="fr-FR" dirty="0" smtClean="0"/>
          </a:p>
          <a:p>
            <a:pPr lvl="2"/>
            <a:r>
              <a:rPr lang="fr-FR" dirty="0" smtClean="0"/>
              <a:t>Point d’entrée technique des standards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6</a:t>
            </a:fld>
            <a:endParaRPr lang="fr-FR" dirty="0"/>
          </a:p>
        </p:txBody>
      </p:sp>
      <p:pic>
        <p:nvPicPr>
          <p:cNvPr id="1026" name="Picture 2" descr="Retraites : la vie ne se réduit pas au travail, affirme la pensée écologique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18" r="28218"/>
          <a:stretch>
            <a:fillRect/>
          </a:stretch>
        </p:blipFill>
        <p:spPr bwMode="auto">
          <a:xfrm>
            <a:off x="6659563" y="915988"/>
            <a:ext cx="2305050" cy="352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162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CNIG et FAIR</a:t>
            </a:r>
            <a:endParaRPr lang="fr-FR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dirty="0" smtClean="0"/>
              <a:t>Contribuer techniquement à rendre la donnée plus FAIR</a:t>
            </a:r>
          </a:p>
          <a:p>
            <a:pPr lvl="1"/>
            <a:r>
              <a:rPr lang="fr-FR" dirty="0" smtClean="0"/>
              <a:t>Des </a:t>
            </a:r>
            <a:r>
              <a:rPr lang="fr-FR" b="1" dirty="0" smtClean="0"/>
              <a:t>métadonnées</a:t>
            </a:r>
            <a:r>
              <a:rPr lang="fr-FR" dirty="0" smtClean="0"/>
              <a:t> accessibles par toutes les communautés</a:t>
            </a:r>
          </a:p>
          <a:p>
            <a:pPr lvl="1"/>
            <a:r>
              <a:rPr lang="fr-FR" dirty="0" smtClean="0"/>
              <a:t>Diffusion des informations de </a:t>
            </a:r>
            <a:r>
              <a:rPr lang="fr-FR" b="1" dirty="0" smtClean="0"/>
              <a:t>qualité</a:t>
            </a:r>
          </a:p>
          <a:p>
            <a:pPr lvl="1"/>
            <a:r>
              <a:rPr lang="fr-FR" dirty="0" smtClean="0"/>
              <a:t>Un travail sur l’</a:t>
            </a:r>
            <a:r>
              <a:rPr lang="fr-FR" b="1" dirty="0" smtClean="0"/>
              <a:t>éthique</a:t>
            </a:r>
            <a:r>
              <a:rPr lang="fr-FR" dirty="0" smtClean="0"/>
              <a:t> de la donnée</a:t>
            </a:r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fr-FR" dirty="0" smtClean="0"/>
              <a:t>Plusieurs référentiels en cours de mise en place</a:t>
            </a:r>
          </a:p>
          <a:p>
            <a:pPr lvl="1"/>
            <a:r>
              <a:rPr lang="fr-FR" dirty="0" smtClean="0"/>
              <a:t>Bâtiments</a:t>
            </a:r>
          </a:p>
          <a:p>
            <a:pPr lvl="1"/>
            <a:r>
              <a:rPr lang="fr-FR" dirty="0" smtClean="0"/>
              <a:t>Adresses</a:t>
            </a:r>
          </a:p>
          <a:p>
            <a:pPr lvl="1"/>
            <a:r>
              <a:rPr lang="fr-FR" dirty="0" smtClean="0"/>
              <a:t>Routes</a:t>
            </a:r>
          </a:p>
          <a:p>
            <a:pPr lvl="1"/>
            <a:r>
              <a:rPr lang="fr-FR" dirty="0" smtClean="0"/>
              <a:t>…</a:t>
            </a:r>
          </a:p>
          <a:p>
            <a:endParaRPr lang="fr-FR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algn="r"/>
            <a:r>
              <a:rPr lang="fr-FR" cap="all" smtClean="0"/>
              <a:t>XX/XX/XXXX</a:t>
            </a:r>
            <a:endParaRPr lang="fr-FR" cap="all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3447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43414" y="-25072"/>
            <a:ext cx="7633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Exemples de travaux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99592" y="1599643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b="1" dirty="0"/>
          </a:p>
          <a:p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773702" y="501583"/>
            <a:ext cx="4950426" cy="1310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</a:pPr>
            <a:endParaRPr lang="fr-FR" dirty="0"/>
          </a:p>
          <a:p>
            <a:pPr marL="285750" indent="-285750" algn="just">
              <a:lnSpc>
                <a:spcPct val="107000"/>
              </a:lnSpc>
              <a:buFont typeface="Symbol" panose="05050102010706020507" pitchFamily="18" charset="2"/>
              <a:buChar char="Þ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fr-FR" sz="14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512" y="617219"/>
            <a:ext cx="8964488" cy="40613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b="1" dirty="0"/>
          </a:p>
          <a:p>
            <a:r>
              <a:rPr lang="fr-FR" b="1" dirty="0"/>
              <a:t>Ateliers de réflexion et de partage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données géolocalisées pour la transition écologique, impact des textes européens sur le numérique, utilisation des données géolocalisées issues de la recherche, cycle d’ateliers sur la planification écologique (16/11/22, 23/02/23)</a:t>
            </a:r>
          </a:p>
          <a:p>
            <a:pPr lvl="0"/>
            <a:r>
              <a:rPr lang="fr-FR" dirty="0"/>
              <a:t>	=&gt; identification des travaux à mener dans le cadre du CNIG</a:t>
            </a:r>
          </a:p>
          <a:p>
            <a:r>
              <a:rPr lang="fr-FR" b="1" dirty="0" smtClean="0"/>
              <a:t>Réalisation </a:t>
            </a:r>
            <a:r>
              <a:rPr lang="fr-FR" b="1" dirty="0"/>
              <a:t>d’études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Etude économique de l’écosystème géo-numérique, vers un observatoire économique de la filière</a:t>
            </a:r>
          </a:p>
          <a:p>
            <a:pPr marL="285750" lvl="0" indent="-285750">
              <a:buFontTx/>
              <a:buChar char="-"/>
            </a:pPr>
            <a:endParaRPr lang="fr-FR" dirty="0"/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0"/>
              </a:spcAft>
              <a:buFontTx/>
              <a:buChar char="-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07000"/>
              </a:lnSpc>
              <a:buFont typeface="Symbol" panose="05050102010706020507" pitchFamily="18" charset="2"/>
              <a:buChar char="Þ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fr-FR" sz="14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059" y="3363838"/>
            <a:ext cx="2055856" cy="2055856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968" y="3273829"/>
            <a:ext cx="3080286" cy="1732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45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43414" y="-25072"/>
            <a:ext cx="76332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Exemples de travaux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899592" y="1599643"/>
            <a:ext cx="83529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b="1" dirty="0"/>
          </a:p>
          <a:p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773702" y="501583"/>
            <a:ext cx="4950426" cy="13107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</a:pPr>
            <a:endParaRPr lang="fr-FR" dirty="0"/>
          </a:p>
          <a:p>
            <a:pPr marL="285750" indent="-285750" algn="just">
              <a:lnSpc>
                <a:spcPct val="107000"/>
              </a:lnSpc>
              <a:buFont typeface="Symbol" panose="05050102010706020507" pitchFamily="18" charset="2"/>
              <a:buChar char="Þ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fr-FR" sz="14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179512" y="617219"/>
            <a:ext cx="8964488" cy="5169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/>
              <a:t>Production de standards </a:t>
            </a:r>
          </a:p>
          <a:p>
            <a:r>
              <a:rPr lang="fr-FR" b="1" dirty="0" smtClean="0"/>
              <a:t>Un </a:t>
            </a:r>
            <a:r>
              <a:rPr lang="fr-FR" b="1" dirty="0"/>
              <a:t>standard = </a:t>
            </a:r>
            <a:r>
              <a:rPr lang="fr-FR" dirty="0"/>
              <a:t>un schéma de données et des règles de constitution établis de manière consensuelle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En cours : référentiel national des bâtiments, référentiel des voies, énergies renouvelables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Déjà établis : plan de corps de rue simplifié (PCRS), documents d’urbanisme, les réseaux enterrés, accessibilité, …</a:t>
            </a:r>
          </a:p>
          <a:p>
            <a:pPr lvl="0"/>
            <a:r>
              <a:rPr lang="fr-FR" b="1" dirty="0" smtClean="0"/>
              <a:t>Production </a:t>
            </a:r>
            <a:r>
              <a:rPr lang="fr-FR" b="1" dirty="0"/>
              <a:t>de guides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guides sur la qualité des données géographiques, sur la toponymie à l’usage des élus, …</a:t>
            </a:r>
          </a:p>
          <a:p>
            <a:r>
              <a:rPr lang="fr-FR" b="1" dirty="0" smtClean="0"/>
              <a:t>Coordination </a:t>
            </a:r>
            <a:r>
              <a:rPr lang="fr-FR" b="1" dirty="0"/>
              <a:t>des acteurs</a:t>
            </a:r>
          </a:p>
          <a:p>
            <a:pPr marL="285750" lvl="0" indent="-285750">
              <a:buFontTx/>
              <a:buChar char="-"/>
            </a:pPr>
            <a:r>
              <a:rPr lang="fr-FR" dirty="0"/>
              <a:t>comité de déploiement de la base adresse nationale, comité de coordination sur les bases de données d’occupation du sol, concertation des acteurs français sur la directive INSPIRE, ...</a:t>
            </a:r>
          </a:p>
          <a:p>
            <a:pPr lvl="0"/>
            <a:endParaRPr lang="fr-FR" dirty="0"/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07000"/>
              </a:lnSpc>
              <a:spcAft>
                <a:spcPts val="0"/>
              </a:spcAft>
              <a:buFontTx/>
              <a:buChar char="-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>
              <a:lnSpc>
                <a:spcPct val="107000"/>
              </a:lnSpc>
              <a:buFont typeface="Symbol" panose="05050102010706020507" pitchFamily="18" charset="2"/>
              <a:buChar char="Þ"/>
            </a:pPr>
            <a:endParaRPr lang="fr-FR" sz="1400" dirty="0">
              <a:latin typeface="Marianne" panose="02000000000000000000" pitchFamily="50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fr-FR" sz="1400" dirty="0">
                <a:latin typeface="Marianne" panose="02000000000000000000" pitchFamily="50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269" y="4190374"/>
            <a:ext cx="4464496" cy="95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2502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="" xmlns:a16="http://schemas.microsoft.com/office/drawing/2014/main" id="{7BFAFEE3-2FE6-41CC-8F16-AABCA9E7C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7011" y="726400"/>
            <a:ext cx="4743566" cy="4749269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1187624" y="195486"/>
            <a:ext cx="6984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000" b="1" dirty="0">
                <a:latin typeface="Marianne" panose="02000000000000000000" pitchFamily="50" charset="0"/>
                <a:cs typeface="Arial" panose="020B0604020202020204" pitchFamily="34" charset="0"/>
              </a:rPr>
              <a:t>Pour en savoir plus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23529" y="1520599"/>
            <a:ext cx="3993483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Site internet : </a:t>
            </a:r>
            <a:r>
              <a:rPr lang="fr-FR" b="1" u="sng" dirty="0">
                <a:hlinkClick r:id="rId3"/>
              </a:rPr>
              <a:t>https://cnig.gouv.fr</a:t>
            </a:r>
            <a:endParaRPr lang="fr-FR" dirty="0"/>
          </a:p>
          <a:p>
            <a:endParaRPr lang="fr-FR" b="1" dirty="0"/>
          </a:p>
          <a:p>
            <a:r>
              <a:rPr lang="fr-FR" b="1" dirty="0"/>
              <a:t/>
            </a:r>
            <a:br>
              <a:rPr lang="fr-FR" b="1" dirty="0"/>
            </a:br>
            <a:r>
              <a:rPr lang="fr-FR" b="1" dirty="0"/>
              <a:t>secrétaire général : Pierre LAULIER</a:t>
            </a:r>
          </a:p>
          <a:p>
            <a:r>
              <a:rPr lang="fr-FR" sz="1400" b="1" dirty="0">
                <a:hlinkClick r:id="rId4"/>
              </a:rPr>
              <a:t>pierre.laulier@cnig.gouv.fr</a:t>
            </a:r>
            <a:endParaRPr lang="fr-FR" sz="1400" b="1" dirty="0"/>
          </a:p>
          <a:p>
            <a:endParaRPr lang="fr-FR" b="1" dirty="0"/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2000" dirty="0"/>
          </a:p>
          <a:p>
            <a:r>
              <a:rPr lang="fr-FR" b="1" dirty="0"/>
              <a:t>Contacts : </a:t>
            </a:r>
            <a:r>
              <a:rPr lang="fr-FR" sz="1400" b="1" dirty="0">
                <a:hlinkClick r:id="rId5"/>
              </a:rPr>
              <a:t>https://cnig.gouv.fr/spip.php?page=contact</a:t>
            </a:r>
            <a:endParaRPr lang="fr-FR" sz="1400" b="1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55899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fr-FR" smtClean="0"/>
              <a:t>MERCI DE VOTRE ATTENTION</a:t>
            </a:r>
            <a:endParaRPr lang="fr-FR" dirty="0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2805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deleCnig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0C06678FEC5D4595E604FB7D2579A6" ma:contentTypeVersion="2" ma:contentTypeDescription="Crée un document." ma:contentTypeScope="" ma:versionID="eec6d2ac0087081ed376fa9262341358">
  <xsd:schema xmlns:xsd="http://www.w3.org/2001/XMLSchema" xmlns:xs="http://www.w3.org/2001/XMLSchema" xmlns:p="http://schemas.microsoft.com/office/2006/metadata/properties" xmlns:ns2="e7cd6fb7-42b1-490e-8554-bfe41af271fc" targetNamespace="http://schemas.microsoft.com/office/2006/metadata/properties" ma:root="true" ma:fieldsID="cc27ba605699e5b0ce7c8f8ab24f3d3c" ns2:_="">
    <xsd:import namespace="e7cd6fb7-42b1-490e-8554-bfe41af271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cd6fb7-42b1-490e-8554-bfe41af271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961958F-B7D9-4417-8B5E-B15E5BC240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7cd6fb7-42b1-490e-8554-bfe41af271f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BDB2173-9F22-45AA-85BF-1E19B2861E2B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purl.org/dc/terms/"/>
    <ds:schemaRef ds:uri="http://schemas.microsoft.com/office/infopath/2007/PartnerControls"/>
    <ds:schemaRef ds:uri="e7cd6fb7-42b1-490e-8554-bfe41af271fc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A477A47-1286-4B71-9FAA-ADCCF488E6E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ModeleCnig</Template>
  <TotalTime>129</TotalTime>
  <Words>631</Words>
  <Application>Microsoft Office PowerPoint</Application>
  <PresentationFormat>Affichage à l'écran (16:9)</PresentationFormat>
  <Paragraphs>149</Paragraphs>
  <Slides>11</Slides>
  <Notes>0</Notes>
  <HiddenSlides>2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2" baseType="lpstr">
      <vt:lpstr>ModeleCnig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CNIG et FAIR</vt:lpstr>
      <vt:lpstr>CNIG et FAIR</vt:lpstr>
      <vt:lpstr>Présentation PowerPoint</vt:lpstr>
      <vt:lpstr>Présentation PowerPoint</vt:lpstr>
      <vt:lpstr>Présentation PowerPoint</vt:lpstr>
      <vt:lpstr>Présentation PowerPoint</vt:lpstr>
    </vt:vector>
  </TitlesOfParts>
  <Manager>Client</Manager>
  <Company>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>Client</dc:subject>
  <dc:creator>Marie Lambois</dc:creator>
  <cp:lastModifiedBy>Marie Lambois</cp:lastModifiedBy>
  <cp:revision>5</cp:revision>
  <dcterms:created xsi:type="dcterms:W3CDTF">2024-01-18T14:03:11Z</dcterms:created>
  <dcterms:modified xsi:type="dcterms:W3CDTF">2024-01-18T16:13:05Z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0x0101001C0C06678FEC5D4595E604FB7D2579A6</vt:lpwstr>
  </property>
</Properties>
</file>